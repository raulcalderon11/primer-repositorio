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0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21.png"/><Relationship Id="rId10" Type="http://schemas.openxmlformats.org/officeDocument/2006/relationships/image" Target="../media/image14.png"/><Relationship Id="rId13" Type="http://schemas.openxmlformats.org/officeDocument/2006/relationships/image" Target="../media/image27.png"/><Relationship Id="rId1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9" Type="http://schemas.openxmlformats.org/officeDocument/2006/relationships/image" Target="../media/image32.png"/><Relationship Id="rId14" Type="http://schemas.openxmlformats.org/officeDocument/2006/relationships/image" Target="../media/image33.png"/><Relationship Id="rId5" Type="http://schemas.openxmlformats.org/officeDocument/2006/relationships/image" Target="../media/image23.png"/><Relationship Id="rId6" Type="http://schemas.openxmlformats.org/officeDocument/2006/relationships/image" Target="../media/image19.png"/><Relationship Id="rId7" Type="http://schemas.openxmlformats.org/officeDocument/2006/relationships/image" Target="../media/image16.png"/><Relationship Id="rId8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31.png"/><Relationship Id="rId6" Type="http://schemas.openxmlformats.org/officeDocument/2006/relationships/image" Target="../media/image22.png"/><Relationship Id="rId7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39.png"/><Relationship Id="rId10" Type="http://schemas.openxmlformats.org/officeDocument/2006/relationships/image" Target="../media/image40.png"/><Relationship Id="rId13" Type="http://schemas.openxmlformats.org/officeDocument/2006/relationships/image" Target="../media/image49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30.png"/><Relationship Id="rId9" Type="http://schemas.openxmlformats.org/officeDocument/2006/relationships/image" Target="../media/image38.png"/><Relationship Id="rId14" Type="http://schemas.openxmlformats.org/officeDocument/2006/relationships/image" Target="../media/image47.png"/><Relationship Id="rId5" Type="http://schemas.openxmlformats.org/officeDocument/2006/relationships/image" Target="../media/image37.png"/><Relationship Id="rId6" Type="http://schemas.openxmlformats.org/officeDocument/2006/relationships/image" Target="../media/image28.png"/><Relationship Id="rId7" Type="http://schemas.openxmlformats.org/officeDocument/2006/relationships/image" Target="../media/image35.png"/><Relationship Id="rId8" Type="http://schemas.openxmlformats.org/officeDocument/2006/relationships/image" Target="../media/image4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46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1.png"/><Relationship Id="rId8" Type="http://schemas.openxmlformats.org/officeDocument/2006/relationships/image" Target="../media/image4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50.png"/><Relationship Id="rId5" Type="http://schemas.openxmlformats.org/officeDocument/2006/relationships/image" Target="../media/image4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195512" y="1562100"/>
            <a:ext cx="7800975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Manual de Instalación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2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SQL Server 2025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381250" y="3219450"/>
            <a:ext cx="7429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Enterprise Developer Edition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381250" y="3848100"/>
            <a:ext cx="7429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Universidad Peruana Los Andes (UPLA)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381250" y="4333875"/>
            <a:ext cx="7429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Curso: Base de Datos II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775988" y="4933375"/>
            <a:ext cx="26400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Calderon Palacios Raul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76462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57250" y="250507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 un potente sistema de gestión de bases de datos relacional (RDBMS) desarrollado por Microsoft.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57250" y="3219450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Permite almacenar, organizar y administrar grandes volúmenes de información utilizando el lenguaje SQL.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57250" y="3933825"/>
            <a:ext cx="50006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versión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Developer Edition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incluye todas las características de la versión Enterprise de manera gratuita para entornos de desarrollo.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¿Qué es SQL Server?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1266825"/>
            <a:ext cx="110490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0507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1945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3382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-15080" r="15080" t="0"/>
          <a:stretch/>
        </p:blipFill>
        <p:spPr>
          <a:xfrm>
            <a:off x="5857875" y="1966900"/>
            <a:ext cx="5810250" cy="382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2286000" y="2105025"/>
            <a:ext cx="8096250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Sistema Operativo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Requiere Windows 10/11 o Windows Server. Asegúrate de tener las últimas actualizaciones instaladas.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2286000" y="3276600"/>
            <a:ext cx="8096250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Almacenamiento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Espacio en disco suficiente. Se recomienda un mínimo de 6 GB a 8 GB disponibles en la unidad principal.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2286000" y="4448175"/>
            <a:ext cx="80962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Administración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Permisos de administrador local en el equipo y conexión a internet estable para descargas.</a:t>
            </a:r>
            <a:endParaRPr/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859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21955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3670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538662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Requisitos Básicos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71500" y="1266825"/>
            <a:ext cx="110490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71500" y="571500"/>
            <a:ext cx="5550693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Paso 1: Descarga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571500" y="1266825"/>
            <a:ext cx="5286375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2219325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Portal Oficial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71500" y="2762250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Ingresa al sitio oficial de descargas de Microsoft SQL Server.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3200400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Navega hasta la sección "Descargas Principales" y ubica el recuadro correspondiente al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Desarrollador de SQL Server 2025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71500" y="4210050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Haz clic en el enlace para descargar la edición "Enterprise Developer". Se descargará un instalador ligero de aproximadamente 4.4 MB.</a:t>
            </a:r>
            <a:endParaRPr/>
          </a:p>
        </p:txBody>
      </p:sp>
      <p:pic>
        <p:nvPicPr>
          <p:cNvPr id="130" name="Google Shape;13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9100" y="255087"/>
            <a:ext cx="4238625" cy="432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7875" y="4723238"/>
            <a:ext cx="5505450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842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188" y="1734312"/>
            <a:ext cx="5286375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855713" y="2124837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1. Ejecutar Archivo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55713" y="2667762"/>
            <a:ext cx="4505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Ejecuta el archivo que acabas de descargar (ej. SQL2025-SSEI-EntDev.exe). Si Windows te pide permisos, haz clic en "Sí".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724650" y="3338512"/>
            <a:ext cx="450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Paso 2: Ejecutar y Tipo de Instalación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571500" y="1266825"/>
            <a:ext cx="110490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3" name="Google Shape;14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163" y="4348449"/>
            <a:ext cx="5286375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855663" y="4821125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2. Elegir Modalidad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55663" y="5364050"/>
            <a:ext cx="4505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 la pantalla principal, no elijas la instalación básica. Selecciona la opción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Download Media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para descargar el paquete completo.</a:t>
            </a:r>
            <a:endParaRPr/>
          </a:p>
        </p:txBody>
      </p:sp>
      <p:pic>
        <p:nvPicPr>
          <p:cNvPr id="146" name="Google Shape;146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98623" y="2667751"/>
            <a:ext cx="5957450" cy="3544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76462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446600" y="2478987"/>
            <a:ext cx="5000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Selecciona el idioma (Inglés o Español).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446600" y="2907612"/>
            <a:ext cx="5000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Marca la opción de formato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ISO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(recomendado).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446600" y="3336237"/>
            <a:ext cx="5000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Especifica una ruta o carpeta de descarga en tu equipo.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446600" y="3764862"/>
            <a:ext cx="5000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Haz clic en el botón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"Download"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Paso 3: Configurar Descarga ISO</a:t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571500" y="1266825"/>
            <a:ext cx="110490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9" name="Google Shape;15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0850" y="247898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0850" y="290761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0850" y="333623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0850" y="376486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7863" y="1362075"/>
            <a:ext cx="5095875" cy="393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6069800" y="1482250"/>
            <a:ext cx="555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Preparación Local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069800" y="2025175"/>
            <a:ext cx="5286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Espera a que termine el proceso de descarga (aprox. 1.4 GB).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069800" y="2453800"/>
            <a:ext cx="5286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Busca el archivo ISO generado en la carpeta que elegiste. Haz clic derecho sobre el archivo y selecciona la opción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"Montar"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Esto creará una unidad virtual temporal en tu equipo.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Paso 4: Montar Archivo ISO</a:t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571500" y="1266825"/>
            <a:ext cx="110490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463" y="2139288"/>
            <a:ext cx="5133975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33773" y="3696150"/>
            <a:ext cx="6158349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89923" y="5017575"/>
            <a:ext cx="6246050" cy="86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950" y="1362087"/>
            <a:ext cx="342900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9950" y="1362087"/>
            <a:ext cx="342900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59950" y="1362087"/>
            <a:ext cx="342900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5225" y="170498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935225" y="2562237"/>
            <a:ext cx="298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1. Ejecutar Setup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935225" y="3105162"/>
            <a:ext cx="2838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Ingresa a la nueva unidad montada y ejecuta el archivo setup.exe como Administrador.</a:t>
            </a:r>
            <a:endParaRPr/>
          </a:p>
        </p:txBody>
      </p:sp>
      <p:pic>
        <p:nvPicPr>
          <p:cNvPr descr="image.png" id="188" name="Google Shape;18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5225" y="170498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4745225" y="2562237"/>
            <a:ext cx="298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2. Menú Lateral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4745225" y="3105162"/>
            <a:ext cx="28386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 el Centro de Instalación (Installation Center), ve al menú lateral izquierdo y elige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"Installation"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191" name="Google Shape;191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55225" y="170498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8555225" y="2562237"/>
            <a:ext cx="298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3. Nueva Instalación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8555225" y="3505212"/>
            <a:ext cx="2838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Haz clic en la primera opción: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"New SQL Server standalone installation"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194" name="Google Shape;194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25725" y="1847862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88100" y="18478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721912" y="184786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Paso 5: Iniciar Setup</a:t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571500" y="1102550"/>
            <a:ext cx="110490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2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53750" y="5069638"/>
            <a:ext cx="45434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132225" y="4594875"/>
            <a:ext cx="6082299" cy="2029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962025" y="2805112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Edición y Licencia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6724650" y="2805112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Reglas Globales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Paso 6: Edición y Reglas</a:t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571500" y="1266825"/>
            <a:ext cx="110490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200" y="3986663"/>
            <a:ext cx="5343525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483762"/>
            <a:ext cx="5286375" cy="23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962025" y="1874287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Edición y Licencia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962025" y="2417212"/>
            <a:ext cx="4505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 la sección Edition, elige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"Enterprise Developer"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la lista desplegable y luego acepta los términos de licencia.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6724650" y="1874287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Reglas Globales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6724650" y="2417212"/>
            <a:ext cx="4505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instalador verificará el sistema. Si el Firewall lanza una advertencia, puedes ignorarla en entornos de desarrollo y continuar.</a:t>
            </a:r>
            <a:endParaRPr/>
          </a:p>
        </p:txBody>
      </p:sp>
      <p:pic>
        <p:nvPicPr>
          <p:cNvPr descr="image.png" id="216" name="Google Shape;21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0350" y="1362087"/>
            <a:ext cx="5286375" cy="23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6450875" y="1752612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Reglas Globales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6450875" y="2295537"/>
            <a:ext cx="4505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instalador verificará el sistema. Si el Firewall lanza una advertencia, puedes ignorarla en entornos de desarrollo y continuar.</a:t>
            </a:r>
            <a:endParaRPr/>
          </a:p>
        </p:txBody>
      </p:sp>
      <p:pic>
        <p:nvPicPr>
          <p:cNvPr id="219" name="Google Shape;219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07120" y="3317087"/>
            <a:ext cx="3939156" cy="332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71700"/>
            <a:ext cx="3429000" cy="362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171700"/>
            <a:ext cx="3429000" cy="362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171700"/>
            <a:ext cx="3429000" cy="362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181225"/>
            <a:ext cx="340995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91025" y="2181225"/>
            <a:ext cx="340995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01025" y="2181225"/>
            <a:ext cx="340995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2181225"/>
            <a:ext cx="3409950" cy="2085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 txBox="1"/>
          <p:nvPr/>
        </p:nvSpPr>
        <p:spPr>
          <a:xfrm>
            <a:off x="771525" y="4467225"/>
            <a:ext cx="318039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Azure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771525" y="4876800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Desmarca la extensión si quieres una instalación local.</a:t>
            </a:r>
            <a:endParaRPr/>
          </a:p>
        </p:txBody>
      </p:sp>
      <p:pic>
        <p:nvPicPr>
          <p:cNvPr descr="image.png" id="234" name="Google Shape;234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91025" y="2181225"/>
            <a:ext cx="3409950" cy="2085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4581525" y="4467225"/>
            <a:ext cx="318039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Features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4581525" y="4876800"/>
            <a:ext cx="3028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Marca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Database Engine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Analysis Services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237" name="Google Shape;237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201025" y="2181225"/>
            <a:ext cx="3409950" cy="2085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>
            <a:off x="8391525" y="4467225"/>
            <a:ext cx="318039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Instancia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8391525" y="4876800"/>
            <a:ext cx="30289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Elige Named instance y nombra: SQL2025EDE.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Paso 7: Características e Instancia</a:t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571500" y="1266825"/>
            <a:ext cx="110490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2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71496" y="1367175"/>
            <a:ext cx="3429000" cy="3037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272950" y="1370050"/>
            <a:ext cx="3617674" cy="2921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2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163075" y="1363238"/>
            <a:ext cx="3428999" cy="3045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 txBox="1"/>
          <p:nvPr/>
        </p:nvSpPr>
        <p:spPr>
          <a:xfrm>
            <a:off x="2286000" y="1362075"/>
            <a:ext cx="8096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Motor de Base de Datos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 la pestaña de configuración del motor, selecciona "Mixed Mode". Crea y confirma una contraseña segura para el administrador del sistema (sa).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2285925" y="1972400"/>
            <a:ext cx="8096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Analysis Services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Avanzando a la siguiente ventana, asegúrate de seleccionar "Multidimensional Mode".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2285925" y="2620100"/>
            <a:ext cx="8096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Permisos Locales ¡Importante!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 ambas ventanas anteriores, debes hacer clic obligatoriamente en el botón </a:t>
            </a: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"Add Current User"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para otorgarte permisos de administrador.</a:t>
            </a:r>
            <a:endParaRPr/>
          </a:p>
        </p:txBody>
      </p:sp>
      <p:pic>
        <p:nvPicPr>
          <p:cNvPr descr="image.png" id="253" name="Google Shape;25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601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14525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675" y="206288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675" y="2710587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3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Paso 8: Configuración de Seguridad</a:t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571500" y="1266825"/>
            <a:ext cx="110490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34700" y="3358269"/>
            <a:ext cx="3708199" cy="329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28501" y="3429001"/>
            <a:ext cx="3586066" cy="329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4"/>
          <p:cNvSpPr txBox="1"/>
          <p:nvPr/>
        </p:nvSpPr>
        <p:spPr>
          <a:xfrm>
            <a:off x="571500" y="571500"/>
            <a:ext cx="5550693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Finalización</a:t>
            </a:r>
            <a:endParaRPr/>
          </a:p>
        </p:txBody>
      </p:sp>
      <p:sp>
        <p:nvSpPr>
          <p:cNvPr id="267" name="Google Shape;267;p24"/>
          <p:cNvSpPr/>
          <p:nvPr/>
        </p:nvSpPr>
        <p:spPr>
          <a:xfrm>
            <a:off x="571500" y="1266825"/>
            <a:ext cx="5286375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4"/>
          <p:cNvSpPr txBox="1"/>
          <p:nvPr/>
        </p:nvSpPr>
        <p:spPr>
          <a:xfrm>
            <a:off x="571500" y="272415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Verificación del Sistema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571500" y="326707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Revisa el resumen final en la ventana "Ready to Install" y haz clic en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Install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Espera pacientemente a que termine el proceso.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571500" y="399097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Asegúrate de que todos los componentes marquen el estado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"Succeeded"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¡Tu instalación ha finalizado con éxito!</a:t>
            </a:r>
            <a:endParaRPr/>
          </a:p>
        </p:txBody>
      </p:sp>
      <p:pic>
        <p:nvPicPr>
          <p:cNvPr id="271" name="Google Shape;27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2200" y="142350"/>
            <a:ext cx="6069800" cy="501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800" y="5265000"/>
            <a:ext cx="84963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5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FIN</a:t>
            </a:r>
            <a:endParaRPr/>
          </a:p>
        </p:txBody>
      </p:sp>
      <p:sp>
        <p:nvSpPr>
          <p:cNvPr id="279" name="Google Shape;279;p25"/>
          <p:cNvSpPr/>
          <p:nvPr/>
        </p:nvSpPr>
        <p:spPr>
          <a:xfrm>
            <a:off x="571500" y="1266825"/>
            <a:ext cx="110490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 txBox="1"/>
          <p:nvPr/>
        </p:nvSpPr>
        <p:spPr>
          <a:xfrm>
            <a:off x="2249550" y="2797950"/>
            <a:ext cx="7692900" cy="19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GRACIAS</a:t>
            </a:r>
            <a:endParaRPr sz="12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